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7.jpeg" ContentType="image/jpeg"/>
  <Override PartName="/ppt/media/image12.jpeg" ContentType="image/jpeg"/>
  <Override PartName="/ppt/media/image10.wmf" ContentType="image/x-wmf"/>
  <Override PartName="/ppt/media/image2.png" ContentType="image/png"/>
  <Override PartName="/ppt/media/image8.png" ContentType="image/png"/>
  <Override PartName="/ppt/media/image11.jpeg" ContentType="image/jpeg"/>
  <Override PartName="/ppt/media/image14.png" ContentType="image/png"/>
  <Override PartName="/ppt/media/image9.wmf" ContentType="image/x-wmf"/>
  <Override PartName="/ppt/media/image13.wmf" ContentType="image/x-wmf"/>
  <Override PartName="/ppt/media/image5.png" ContentType="image/png"/>
  <Override PartName="/ppt/embeddings/oleObject1.xls" ContentType="application/vnd.ms-excel"/>
  <Override PartName="/ppt/embeddings/oleObject2.xls" ContentType="application/vnd.ms-excel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Text Box 7"/>
          <p:cNvSpPr/>
          <p:nvPr/>
        </p:nvSpPr>
        <p:spPr>
          <a:xfrm>
            <a:off x="3962520" y="6497640"/>
            <a:ext cx="1447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200" spc="-1" strike="noStrike">
                <a:solidFill>
                  <a:srgbClr val="b2b2b2"/>
                </a:solidFill>
                <a:latin typeface="Calibri"/>
              </a:rPr>
              <a:t>pc2 itam 25-3-14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2400" spc="-1" strike="noStrike">
                <a:solidFill>
                  <a:srgbClr val="808080"/>
                </a:solidFill>
                <a:latin typeface="Times New Roman"/>
              </a:rPr>
              <a:t>Click to edit the title text format</a:t>
            </a:r>
            <a:endParaRPr b="0" lang="es-ES" sz="2400" spc="-1" strike="noStrike">
              <a:solidFill>
                <a:srgbClr val="80808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s-ES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s-ES" sz="20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" Target="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hyperlink" Target="http://projects.fivethirtyeight.com/2016-election-forecast/" TargetMode="External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xls"/><Relationship Id="rId2" Type="http://schemas.openxmlformats.org/officeDocument/2006/relationships/image" Target="../media/image9.wmf"/><Relationship Id="rId3" Type="http://schemas.openxmlformats.org/officeDocument/2006/relationships/oleObject" Target="../embeddings/oleObject2.xls"/><Relationship Id="rId4" Type="http://schemas.openxmlformats.org/officeDocument/2006/relationships/image" Target="../media/image10.wmf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oleObject" Target="../embeddings/oleObject1.xls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1026"/>
          <p:cNvSpPr/>
          <p:nvPr/>
        </p:nvSpPr>
        <p:spPr>
          <a:xfrm>
            <a:off x="1671480" y="533520"/>
            <a:ext cx="58669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2999"/>
              </a:spcBef>
              <a:buNone/>
            </a:pPr>
            <a:br>
              <a:rPr sz="6000"/>
            </a:br>
            <a:r>
              <a:rPr b="0" lang="es-MX" sz="6000" spc="-1" strike="noStrike">
                <a:solidFill>
                  <a:srgbClr val="000000"/>
                </a:solidFill>
                <a:latin typeface="Calibri"/>
              </a:rPr>
              <a:t>Los</a:t>
            </a:r>
            <a:br>
              <a:rPr sz="6000"/>
            </a:br>
            <a:r>
              <a:rPr b="0" lang="es-MX" sz="6000" spc="-1" strike="noStrike">
                <a:solidFill>
                  <a:srgbClr val="000000"/>
                </a:solidFill>
                <a:latin typeface="Calibri"/>
              </a:rPr>
              <a:t>sistemas electorales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4"/>
          <p:cNvSpPr/>
          <p:nvPr/>
        </p:nvSpPr>
        <p:spPr>
          <a:xfrm>
            <a:off x="2350800" y="294120"/>
            <a:ext cx="4335120" cy="57852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  <a:ea typeface="Calibri"/>
              </a:rPr>
              <a:t>Liberales británicos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2" name="Imagen 4" descr="Gráfico, Gráfico de líneas&#10;&#10;Descripción generada automáticamente"/>
          <p:cNvPicPr/>
          <p:nvPr/>
        </p:nvPicPr>
        <p:blipFill>
          <a:blip r:embed="rId1"/>
          <a:stretch/>
        </p:blipFill>
        <p:spPr>
          <a:xfrm>
            <a:off x="313920" y="1371600"/>
            <a:ext cx="4114440" cy="4114440"/>
          </a:xfrm>
          <a:prstGeom prst="rect">
            <a:avLst/>
          </a:prstGeom>
          <a:ln w="0">
            <a:noFill/>
          </a:ln>
        </p:spPr>
      </p:pic>
      <p:pic>
        <p:nvPicPr>
          <p:cNvPr id="43" name="Imagen 5" descr="Gráfico, Gráfico de líneas&#10;&#10;Descripción generada automáticamente"/>
          <p:cNvPicPr/>
          <p:nvPr/>
        </p:nvPicPr>
        <p:blipFill>
          <a:blip r:embed="rId2"/>
          <a:stretch/>
        </p:blipFill>
        <p:spPr>
          <a:xfrm>
            <a:off x="472572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Box 4"/>
          <p:cNvSpPr/>
          <p:nvPr/>
        </p:nvSpPr>
        <p:spPr>
          <a:xfrm>
            <a:off x="2350800" y="294120"/>
            <a:ext cx="4335120" cy="57852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  <a:ea typeface="Calibri"/>
              </a:rPr>
              <a:t>Liberales británicos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Imagen 1" descr="Gráfico, Gráfico de dispersión&#10;&#10;Descripción generada automáticamente"/>
          <p:cNvPicPr/>
          <p:nvPr/>
        </p:nvPicPr>
        <p:blipFill>
          <a:blip r:embed="rId1"/>
          <a:stretch/>
        </p:blipFill>
        <p:spPr>
          <a:xfrm>
            <a:off x="1211400" y="1147320"/>
            <a:ext cx="5481720" cy="548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4"/>
          <p:cNvSpPr/>
          <p:nvPr/>
        </p:nvSpPr>
        <p:spPr>
          <a:xfrm>
            <a:off x="2350800" y="294120"/>
            <a:ext cx="4335120" cy="57852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  <a:ea typeface="Calibri"/>
              </a:rPr>
              <a:t>Bélgica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7" name="Imagen 4" descr="Gráfico, Gráfico de líneas&#10;&#10;Descripción generada automáticamente"/>
          <p:cNvPicPr/>
          <p:nvPr/>
        </p:nvPicPr>
        <p:blipFill>
          <a:blip r:embed="rId1"/>
          <a:stretch/>
        </p:blipFill>
        <p:spPr>
          <a:xfrm>
            <a:off x="933480" y="1264680"/>
            <a:ext cx="5204160" cy="5182560"/>
          </a:xfrm>
          <a:prstGeom prst="rect">
            <a:avLst/>
          </a:prstGeom>
          <a:ln w="0">
            <a:noFill/>
          </a:ln>
        </p:spPr>
      </p:pic>
      <p:sp>
        <p:nvSpPr>
          <p:cNvPr id="48" name="Text Box 11"/>
          <p:cNvSpPr/>
          <p:nvPr/>
        </p:nvSpPr>
        <p:spPr>
          <a:xfrm>
            <a:off x="6511320" y="5694120"/>
            <a:ext cx="2318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n-US" sz="2400" spc="-1" strike="noStrike">
                <a:solidFill>
                  <a:srgbClr val="808080"/>
                </a:solidFill>
                <a:latin typeface="Calibri"/>
                <a:ea typeface="Calibri"/>
              </a:rPr>
              <a:t>Duverger 1952, </a:t>
            </a:r>
            <a:br>
              <a:rPr sz="2400"/>
            </a:br>
            <a:r>
              <a:rPr b="0" lang="en-US" sz="2400" spc="-1" strike="noStrike">
                <a:solidFill>
                  <a:srgbClr val="808080"/>
                </a:solidFill>
                <a:latin typeface="Calibri"/>
                <a:ea typeface="Calibri"/>
              </a:rPr>
              <a:t>pp. 317 y 340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3"/>
          <p:cNvSpPr/>
          <p:nvPr/>
        </p:nvSpPr>
        <p:spPr>
          <a:xfrm>
            <a:off x="1523880" y="304920"/>
            <a:ext cx="609552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El Colegio Electoral norteamericano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50" name="Picture 4" descr="C:\Documents and Settings\emagar.COMUNIDAD_ITAM\My Documents\My Pictures\us-states map.gif"/>
          <p:cNvPicPr/>
          <p:nvPr/>
        </p:nvPicPr>
        <p:blipFill>
          <a:blip r:embed="rId1"/>
          <a:stretch/>
        </p:blipFill>
        <p:spPr>
          <a:xfrm>
            <a:off x="5994360" y="1066680"/>
            <a:ext cx="2920680" cy="1790280"/>
          </a:xfrm>
          <a:prstGeom prst="rect">
            <a:avLst/>
          </a:prstGeom>
          <a:ln w="0">
            <a:noFill/>
          </a:ln>
        </p:spPr>
      </p:pic>
      <p:sp>
        <p:nvSpPr>
          <p:cNvPr id="51" name="Text Box 6"/>
          <p:cNvSpPr/>
          <p:nvPr/>
        </p:nvSpPr>
        <p:spPr>
          <a:xfrm>
            <a:off x="5562720" y="3219480"/>
            <a:ext cx="33523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Los 10 estados más 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poblados juntan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  254 electores 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(270 son mayoría); 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los  20 menos 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poblados, juntos, pesan </a:t>
            </a:r>
            <a:br>
              <a:rPr sz="2400"/>
            </a:br>
            <a:r>
              <a:rPr b="0" lang="es-MX" sz="2400" spc="-1" strike="noStrike">
                <a:solidFill>
                  <a:srgbClr val="000000"/>
                </a:solidFill>
                <a:latin typeface="Calibri"/>
              </a:rPr>
              <a:t>lo que California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Text Box 8"/>
          <p:cNvSpPr/>
          <p:nvPr/>
        </p:nvSpPr>
        <p:spPr>
          <a:xfrm>
            <a:off x="609480" y="6186600"/>
            <a:ext cx="7695720" cy="516240"/>
          </a:xfrm>
          <a:prstGeom prst="rect">
            <a:avLst/>
          </a:prstGeom>
          <a:solidFill>
            <a:srgbClr val="ffcc00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Calibri"/>
              </a:rPr>
              <a:t>Los electores de cada estado son electos por PBV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" name="AutoShape 10">
            <a:hlinkClick r:id="rId2" action="ppaction://hlinksldjump"/>
          </p:cNvPr>
          <p:cNvSpPr/>
          <p:nvPr/>
        </p:nvSpPr>
        <p:spPr>
          <a:xfrm>
            <a:off x="8534520" y="6248520"/>
            <a:ext cx="380520" cy="380520"/>
          </a:xfrm>
          <a:prstGeom prst="actionButtonReturn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54" name="Imagen 2" descr="Mapa&#10;&#10;Descripción generada automáticamente"/>
          <p:cNvPicPr/>
          <p:nvPr/>
        </p:nvPicPr>
        <p:blipFill>
          <a:blip r:embed="rId3"/>
          <a:stretch/>
        </p:blipFill>
        <p:spPr>
          <a:xfrm>
            <a:off x="576720" y="1163160"/>
            <a:ext cx="4571640" cy="333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nodeType="clickEffect" fill="hold">
                      <p:stCondLst>
                        <p:cond delay="indefinite"/>
                      </p:stCondLst>
                      <p:childTnLst>
                        <p:par>
                          <p:cTn id="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026" descr="C:\My Documents\1new\itam\clases\pc2 a05\newmex.jpg"/>
          <p:cNvPicPr/>
          <p:nvPr/>
        </p:nvPicPr>
        <p:blipFill>
          <a:blip r:embed="rId1"/>
          <a:stretch/>
        </p:blipFill>
        <p:spPr>
          <a:xfrm>
            <a:off x="395280" y="149400"/>
            <a:ext cx="4020840" cy="6632280"/>
          </a:xfrm>
          <a:prstGeom prst="rect">
            <a:avLst/>
          </a:prstGeom>
          <a:ln w="0">
            <a:noFill/>
          </a:ln>
        </p:spPr>
      </p:pic>
      <p:sp>
        <p:nvSpPr>
          <p:cNvPr id="56" name="Text Box 6"/>
          <p:cNvSpPr/>
          <p:nvPr/>
        </p:nvSpPr>
        <p:spPr>
          <a:xfrm>
            <a:off x="5562720" y="3219480"/>
            <a:ext cx="3352320" cy="8211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s-MX" sz="2400" spc="-1" strike="noStrike" u="sng">
                <a:solidFill>
                  <a:srgbClr val="5959ff"/>
                </a:solidFill>
                <a:uFillTx/>
                <a:latin typeface="Calibri"/>
                <a:hlinkClick r:id="rId2"/>
              </a:rPr>
              <a:t>http://projects.fivethirtyeight.com/2016-election-forecast/</a:t>
            </a:r>
            <a:r>
              <a:rPr b="0" lang="es-MX" sz="2400" spc="-1" strike="noStrike">
                <a:solidFill>
                  <a:srgbClr val="262699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1" descr="Diagrama&#10;&#10;Descripción generada automáticamente"/>
          <p:cNvPicPr/>
          <p:nvPr/>
        </p:nvPicPr>
        <p:blipFill>
          <a:blip r:embed="rId1"/>
          <a:stretch/>
        </p:blipFill>
        <p:spPr>
          <a:xfrm>
            <a:off x="1424160" y="623880"/>
            <a:ext cx="6295680" cy="56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2"/>
          <p:cNvSpPr/>
          <p:nvPr/>
        </p:nvSpPr>
        <p:spPr>
          <a:xfrm>
            <a:off x="374760" y="1371600"/>
            <a:ext cx="8457840" cy="5162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Calibri"/>
              </a:rPr>
              <a:t>Elección 2004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9" name="Text Box 3"/>
          <p:cNvSpPr/>
          <p:nvPr/>
        </p:nvSpPr>
        <p:spPr>
          <a:xfrm>
            <a:off x="609480" y="304920"/>
            <a:ext cx="792432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Dos elecciones presidenciales en EEUU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60" name="Object 4"/>
          <p:cNvGraphicFramePr/>
          <p:nvPr/>
        </p:nvGraphicFramePr>
        <p:xfrm>
          <a:off x="374760" y="1967040"/>
          <a:ext cx="8464320" cy="723600"/>
        </p:xfrm>
        <a:graphic>
          <a:graphicData uri="http://schemas.openxmlformats.org/presentationml/2006/ole">
            <p:oleObj progId="Excel.Sheet.8" r:id="rId1" spid="">
              <p:embed/>
              <p:pic>
                <p:nvPicPr>
                  <p:cNvPr id="61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74760" y="1967040"/>
                    <a:ext cx="8464320" cy="723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2" name="Object 5"/>
          <p:cNvGraphicFramePr/>
          <p:nvPr/>
        </p:nvGraphicFramePr>
        <p:xfrm>
          <a:off x="374760" y="3795840"/>
          <a:ext cx="8457840" cy="723600"/>
        </p:xfrm>
        <a:graphic>
          <a:graphicData uri="http://schemas.openxmlformats.org/presentationml/2006/ole">
            <p:oleObj progId="Excel.Sheet.8" r:id="rId3" spid="">
              <p:embed/>
              <p:pic>
                <p:nvPicPr>
                  <p:cNvPr id="63" name="Object 5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74760" y="3795840"/>
                    <a:ext cx="8457840" cy="723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4" name="Text Box 6"/>
          <p:cNvSpPr/>
          <p:nvPr/>
        </p:nvSpPr>
        <p:spPr>
          <a:xfrm>
            <a:off x="374760" y="3200400"/>
            <a:ext cx="8457840" cy="5162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Calibri"/>
              </a:rPr>
              <a:t>Elección 2000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5" name="Oval 7"/>
          <p:cNvSpPr/>
          <p:nvPr/>
        </p:nvSpPr>
        <p:spPr>
          <a:xfrm>
            <a:off x="3276720" y="2043000"/>
            <a:ext cx="685440" cy="914040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Oval 8"/>
          <p:cNvSpPr/>
          <p:nvPr/>
        </p:nvSpPr>
        <p:spPr>
          <a:xfrm>
            <a:off x="3276720" y="4176720"/>
            <a:ext cx="685440" cy="456840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Oval 9"/>
          <p:cNvSpPr/>
          <p:nvPr/>
        </p:nvSpPr>
        <p:spPr>
          <a:xfrm>
            <a:off x="5168880" y="3909960"/>
            <a:ext cx="685440" cy="456840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</a:ln>
          <a:effectLst>
            <a:outerShdw algn="ctr" dir="2700000" dist="35638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Text Box 10"/>
          <p:cNvSpPr/>
          <p:nvPr/>
        </p:nvSpPr>
        <p:spPr>
          <a:xfrm>
            <a:off x="457200" y="5029200"/>
            <a:ext cx="83055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Florida definió la elección a favor de Bush por un puñado de votos...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" dur="indefinite" restart="never" nodeType="tmRoot">
          <p:childTnLst>
            <p:seq>
              <p:cTn id="23" dur="indefinite" nodeType="mainSeq">
                <p:childTnLst>
                  <p:par>
                    <p:cTn id="24" nodeType="clickEffect" fill="hold">
                      <p:stCondLst>
                        <p:cond delay="indefinite"/>
                      </p:stCondLst>
                      <p:childTnLst>
                        <p:par>
                          <p:cTn id="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nodeType="clickEffect" fill="hold">
                      <p:stCondLst>
                        <p:cond delay="indefinite"/>
                      </p:stCondLst>
                      <p:childTnLst>
                        <p:par>
                          <p:cTn id="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nodeType="clickEffect" fill="hold">
                      <p:stCondLst>
                        <p:cond delay="indefinite"/>
                      </p:stCondLst>
                      <p:childTnLst>
                        <p:par>
                          <p:cTn id="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2"/>
          <p:cNvSpPr/>
          <p:nvPr/>
        </p:nvSpPr>
        <p:spPr>
          <a:xfrm>
            <a:off x="457200" y="1143000"/>
            <a:ext cx="8305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M=1, V=1, con dos posibles elecciones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0" name="Text Box 3"/>
          <p:cNvSpPr/>
          <p:nvPr/>
        </p:nvSpPr>
        <p:spPr>
          <a:xfrm>
            <a:off x="1752480" y="304920"/>
            <a:ext cx="563832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TRS: sistema de doble vuelta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1" name="Text Box 4"/>
          <p:cNvSpPr/>
          <p:nvPr/>
        </p:nvSpPr>
        <p:spPr>
          <a:xfrm>
            <a:off x="457200" y="1905120"/>
            <a:ext cx="8305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Primera ronda: como FPTP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2" name="Text Box 5"/>
          <p:cNvSpPr/>
          <p:nvPr/>
        </p:nvSpPr>
        <p:spPr>
          <a:xfrm>
            <a:off x="457200" y="2743200"/>
            <a:ext cx="8534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Regla para la segunda ronda cambia: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3" name="Text Box 6"/>
          <p:cNvSpPr/>
          <p:nvPr/>
        </p:nvSpPr>
        <p:spPr>
          <a:xfrm>
            <a:off x="609480" y="3429000"/>
            <a:ext cx="85341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000000"/>
                </a:solidFill>
                <a:latin typeface="Calibri"/>
              </a:rPr>
              <a:t>Francia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(pres) 50%+1 para ganar, pasan 2 punteros.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4" name="Text Box 7"/>
          <p:cNvSpPr/>
          <p:nvPr/>
        </p:nvSpPr>
        <p:spPr>
          <a:xfrm>
            <a:off x="609480" y="4038480"/>
            <a:ext cx="807696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000000"/>
                </a:solidFill>
                <a:latin typeface="Calibri"/>
              </a:rPr>
              <a:t>Costa Rica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    40%          “        “           “      2            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5" name="Text Box 8"/>
          <p:cNvSpPr/>
          <p:nvPr/>
        </p:nvSpPr>
        <p:spPr>
          <a:xfrm>
            <a:off x="609480" y="4587840"/>
            <a:ext cx="8534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000000"/>
                </a:solidFill>
                <a:latin typeface="Calibri"/>
              </a:rPr>
              <a:t>Argentina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     45% ó 40%+10% margen    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6" name="Text Box 9"/>
          <p:cNvSpPr/>
          <p:nvPr/>
        </p:nvSpPr>
        <p:spPr>
          <a:xfrm>
            <a:off x="609480" y="5181480"/>
            <a:ext cx="8076960" cy="1064520"/>
          </a:xfrm>
          <a:prstGeom prst="rect">
            <a:avLst/>
          </a:prstGeom>
          <a:solidFill>
            <a:schemeClr val="fol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000000"/>
                </a:solidFill>
                <a:latin typeface="Calibri"/>
              </a:rPr>
              <a:t>Francia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(AN)  50%+1     “       “            “     quien obtenga &gt;12.5%   (la 2</a:t>
            </a:r>
            <a:r>
              <a:rPr b="0" lang="es-MX" sz="3200" spc="-1" strike="noStrike" baseline="30000">
                <a:solidFill>
                  <a:srgbClr val="000000"/>
                </a:solidFill>
                <a:latin typeface="Calibri"/>
              </a:rPr>
              <a:t>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ronda es FPTP)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7" name="Rectangle 10"/>
          <p:cNvSpPr/>
          <p:nvPr/>
        </p:nvSpPr>
        <p:spPr>
          <a:xfrm>
            <a:off x="533520" y="3429000"/>
            <a:ext cx="8229240" cy="297144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nodeType="clickEffect" fill="hold">
                      <p:stCondLst>
                        <p:cond delay="indefinite"/>
                      </p:stCondLst>
                      <p:childTnLst>
                        <p:par>
                          <p:cTn id="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nodeType="clickEffect" fill="hold">
                      <p:stCondLst>
                        <p:cond delay="indefinite"/>
                      </p:stCondLst>
                      <p:childTnLst>
                        <p:par>
                          <p:cTn id="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nodeType="clickEffect" fill="hold">
                      <p:stCondLst>
                        <p:cond delay="indefinite"/>
                      </p:stCondLst>
                      <p:childTnLst>
                        <p:par>
                          <p:cTn id="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nodeType="clickEffect" fill="hold">
                      <p:stCondLst>
                        <p:cond delay="indefinite"/>
                      </p:stCondLst>
                      <p:childTnLst>
                        <p:par>
                          <p:cTn id="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2"/>
          <p:cNvSpPr/>
          <p:nvPr/>
        </p:nvSpPr>
        <p:spPr>
          <a:xfrm>
            <a:off x="457200" y="1295280"/>
            <a:ext cx="8305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Traducción consciente del %voto en %escaños 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9" name="Text Box 3"/>
          <p:cNvSpPr/>
          <p:nvPr/>
        </p:nvSpPr>
        <p:spPr>
          <a:xfrm>
            <a:off x="3733920" y="304920"/>
            <a:ext cx="167616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La RP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0" name="Text Box 4"/>
          <p:cNvSpPr/>
          <p:nvPr/>
        </p:nvSpPr>
        <p:spPr>
          <a:xfrm>
            <a:off x="457200" y="2590920"/>
            <a:ext cx="83055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i="1" lang="es-MX" sz="32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&gt;1 por definición: </a:t>
            </a:r>
            <a:br>
              <a:rPr sz="3200"/>
            </a:b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En Israel y Holanda el país es un solo distrito </a:t>
            </a:r>
            <a:br>
              <a:rPr sz="3200"/>
            </a:b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En Argentina y Brasil cada estado es un distrito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1" name="AutoShape 5">
            <a:hlinkClick r:id="rId1" action="ppaction://hlinksldjump"/>
          </p:cNvPr>
          <p:cNvSpPr/>
          <p:nvPr/>
        </p:nvSpPr>
        <p:spPr>
          <a:xfrm>
            <a:off x="6705720" y="5715000"/>
            <a:ext cx="914040" cy="456840"/>
          </a:xfrm>
          <a:prstGeom prst="actionButtonBlank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Line 6"/>
          <p:cNvSpPr/>
          <p:nvPr/>
        </p:nvSpPr>
        <p:spPr>
          <a:xfrm flipH="1">
            <a:off x="6933960" y="5943600"/>
            <a:ext cx="381240" cy="360"/>
          </a:xfrm>
          <a:prstGeom prst="line">
            <a:avLst/>
          </a:prstGeom>
          <a:ln w="38100">
            <a:solidFill>
              <a:srgbClr val="808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Box 7"/>
          <p:cNvSpPr/>
          <p:nvPr/>
        </p:nvSpPr>
        <p:spPr>
          <a:xfrm>
            <a:off x="5719320" y="5716080"/>
            <a:ext cx="973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000" spc="-1" strike="noStrike">
                <a:solidFill>
                  <a:srgbClr val="808080"/>
                </a:solidFill>
                <a:latin typeface="Calibri"/>
              </a:rPr>
              <a:t>familias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AutoShape 8">
            <a:hlinkClick r:id="rId2" action="ppaction://hlinksldjump"/>
          </p:cNvPr>
          <p:cNvSpPr/>
          <p:nvPr/>
        </p:nvSpPr>
        <p:spPr>
          <a:xfrm>
            <a:off x="2979720" y="5715000"/>
            <a:ext cx="914040" cy="456840"/>
          </a:xfrm>
          <a:prstGeom prst="actionButtonBlank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Line 9"/>
          <p:cNvSpPr/>
          <p:nvPr/>
        </p:nvSpPr>
        <p:spPr>
          <a:xfrm flipH="1">
            <a:off x="3208320" y="5943600"/>
            <a:ext cx="380880" cy="360"/>
          </a:xfrm>
          <a:prstGeom prst="line">
            <a:avLst/>
          </a:prstGeom>
          <a:ln w="38100">
            <a:solidFill>
              <a:srgbClr val="808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Box 10"/>
          <p:cNvSpPr/>
          <p:nvPr/>
        </p:nvSpPr>
        <p:spPr>
          <a:xfrm>
            <a:off x="1741680" y="5716080"/>
            <a:ext cx="1261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2000" spc="-1" strike="noStrike">
                <a:solidFill>
                  <a:srgbClr val="808080"/>
                </a:solidFill>
                <a:latin typeface="Calibri"/>
              </a:rPr>
              <a:t>frecuencia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" name="Text Box 11"/>
          <p:cNvSpPr/>
          <p:nvPr/>
        </p:nvSpPr>
        <p:spPr>
          <a:xfrm>
            <a:off x="457200" y="4389480"/>
            <a:ext cx="830556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72 países eligen su parlamento con RP pura, 1,200M habitantes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nodeType="clickEffect" fill="hold">
                      <p:stCondLst>
                        <p:cond delay="indefinite"/>
                      </p:stCondLst>
                      <p:childTnLst>
                        <p:par>
                          <p:cTn id="1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nodeType="clickEffect" fill="hold">
                      <p:stCondLst>
                        <p:cond delay="indefinite"/>
                      </p:stCondLst>
                      <p:childTnLst>
                        <p:par>
                          <p:cTn id="1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Box 15"/>
          <p:cNvSpPr/>
          <p:nvPr/>
        </p:nvSpPr>
        <p:spPr>
          <a:xfrm>
            <a:off x="457200" y="1309680"/>
            <a:ext cx="8305560" cy="43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Los sistemas de RP varían en cuanto a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la magnitud de los distritos (a mayor </a:t>
            </a:r>
            <a:r>
              <a:rPr b="0" i="1" lang="es-MX" sz="32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, más proporcionalidad);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por quién se vota (partidos, candidatos, o ambos);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el umbral de representación (2%, 5%...) 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la fórmula de reparto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9" name="Text Box 16"/>
          <p:cNvSpPr/>
          <p:nvPr/>
        </p:nvSpPr>
        <p:spPr>
          <a:xfrm>
            <a:off x="1905120" y="304920"/>
            <a:ext cx="533376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Diferencias en sistemas de RP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2" dur="indefinite" restart="never" nodeType="tmRoot">
          <p:childTnLst>
            <p:seq>
              <p:cTn id="113" dur="indefinite" nodeType="mainSeq">
                <p:childTnLst>
                  <p:par>
                    <p:cTn id="114" nodeType="clickEffect" fill="hold">
                      <p:stCondLst>
                        <p:cond delay="indefinite"/>
                      </p:stCondLst>
                      <p:childTnLst>
                        <p:par>
                          <p:cTn id="1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Box 2"/>
          <p:cNvSpPr/>
          <p:nvPr/>
        </p:nvSpPr>
        <p:spPr>
          <a:xfrm>
            <a:off x="457200" y="1219320"/>
            <a:ext cx="8305560" cy="17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Característica fundamental: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¿Puedes seleccionar un nombre da la lista o votas por toda ella?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1" name="Text Box 3"/>
          <p:cNvSpPr/>
          <p:nvPr/>
        </p:nvSpPr>
        <p:spPr>
          <a:xfrm>
            <a:off x="2133720" y="304920"/>
            <a:ext cx="495252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Listas abiertas o cerradas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2" name="Text Box 2"/>
          <p:cNvSpPr/>
          <p:nvPr/>
        </p:nvSpPr>
        <p:spPr>
          <a:xfrm>
            <a:off x="457200" y="3932280"/>
            <a:ext cx="83055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Listas abiertas son más democráticas pero generan tensiones al interior del partido (corrupción en Brasil)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93" name="Group 10"/>
          <p:cNvGrpSpPr/>
          <p:nvPr/>
        </p:nvGrpSpPr>
        <p:grpSpPr>
          <a:xfrm>
            <a:off x="2235240" y="152280"/>
            <a:ext cx="4927320" cy="6552720"/>
            <a:chOff x="2235240" y="152280"/>
            <a:chExt cx="4927320" cy="6552720"/>
          </a:xfrm>
        </p:grpSpPr>
        <p:pic>
          <p:nvPicPr>
            <p:cNvPr id="94" name="Picture 8" descr="C:\Documents and Settings\Eric\My Documents\My Pictures\2005_11_16\IMG_0254.JPG"/>
            <p:cNvPicPr/>
            <p:nvPr/>
          </p:nvPicPr>
          <p:blipFill>
            <a:blip r:embed="rId1"/>
            <a:stretch/>
          </p:blipFill>
          <p:spPr>
            <a:xfrm>
              <a:off x="2247840" y="152280"/>
              <a:ext cx="4914720" cy="6552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5" name="Text Box 9"/>
            <p:cNvSpPr/>
            <p:nvPr/>
          </p:nvSpPr>
          <p:spPr>
            <a:xfrm>
              <a:off x="2235240" y="343080"/>
              <a:ext cx="1294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spcBef>
                  <a:spcPts val="799"/>
                </a:spcBef>
                <a:buNone/>
              </a:pPr>
              <a:r>
                <a:rPr b="1" lang="es-MX" sz="1600" spc="-1" strike="noStrike">
                  <a:solidFill>
                    <a:srgbClr val="000000"/>
                  </a:solidFill>
                  <a:latin typeface="Calibri"/>
                </a:rPr>
                <a:t>Dinamarca</a:t>
              </a:r>
              <a:endParaRPr b="0" lang="en-US" sz="1600" spc="-1" strike="noStrike">
                <a:latin typeface="Arial"/>
              </a:endParaRPr>
            </a:p>
          </p:txBody>
        </p:sp>
      </p:grpSp>
      <p:pic>
        <p:nvPicPr>
          <p:cNvPr id="96" name="Picture 7" descr="C:\Documents and Settings\Eric\My Documents\My Pictures\2005_11_16\IMG_0253.JPG"/>
          <p:cNvPicPr/>
          <p:nvPr/>
        </p:nvPicPr>
        <p:blipFill>
          <a:blip r:embed="rId2"/>
          <a:stretch/>
        </p:blipFill>
        <p:spPr>
          <a:xfrm>
            <a:off x="914400" y="990720"/>
            <a:ext cx="7391160" cy="554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nodeType="clickEffect" fill="hold">
                      <p:stCondLst>
                        <p:cond delay="indefinite"/>
                      </p:stCondLst>
                      <p:childTnLst>
                        <p:par>
                          <p:cTn id="1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nodeType="clickEffect" fill="hold">
                      <p:stCondLst>
                        <p:cond delay="indefinite"/>
                      </p:stCondLst>
                      <p:childTnLst>
                        <p:par>
                          <p:cTn id="1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Box 3"/>
          <p:cNvSpPr/>
          <p:nvPr/>
        </p:nvSpPr>
        <p:spPr>
          <a:xfrm>
            <a:off x="2666880" y="304920"/>
            <a:ext cx="380952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La RP por lista (2)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8" name="Text Box 4"/>
          <p:cNvSpPr/>
          <p:nvPr/>
        </p:nvSpPr>
        <p:spPr>
          <a:xfrm>
            <a:off x="457200" y="1341360"/>
            <a:ext cx="8305560" cy="35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Hay 2 grandes tipos de sistemas de RP por lista:</a:t>
            </a:r>
            <a:br>
              <a:rPr sz="3200"/>
            </a:b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s-MX" sz="3200" spc="-1" strike="noStrike">
                <a:solidFill>
                  <a:srgbClr val="009900"/>
                </a:solidFill>
                <a:latin typeface="Calibri"/>
              </a:rPr>
              <a:t>1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) sistemas de </a:t>
            </a:r>
            <a:r>
              <a:rPr b="1" lang="es-MX" sz="3200" spc="-1" strike="noStrike">
                <a:solidFill>
                  <a:srgbClr val="009900"/>
                </a:solidFill>
                <a:latin typeface="Calibri"/>
              </a:rPr>
              <a:t>divisor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(promedios mayores) y 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s-MX" sz="3200" spc="-1" strike="noStrike">
                <a:solidFill>
                  <a:srgbClr val="3333cc"/>
                </a:solidFill>
                <a:latin typeface="Calibri"/>
              </a:rPr>
              <a:t>2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) sistemas de </a:t>
            </a:r>
            <a:r>
              <a:rPr b="1" lang="es-MX" sz="3200" spc="-1" strike="noStrike">
                <a:solidFill>
                  <a:srgbClr val="3333cc"/>
                </a:solidFill>
                <a:latin typeface="Calibri"/>
              </a:rPr>
              <a:t>cuota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(restos mayores).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9" name="Text Box 5"/>
          <p:cNvSpPr/>
          <p:nvPr/>
        </p:nvSpPr>
        <p:spPr>
          <a:xfrm>
            <a:off x="990720" y="2484360"/>
            <a:ext cx="74671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009900"/>
                </a:solidFill>
                <a:latin typeface="Calibri"/>
              </a:rPr>
              <a:t>*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d’Hondt (1, 2, 3, 4, …)</a:t>
            </a:r>
            <a:br>
              <a:rPr sz="3200"/>
            </a:br>
            <a:r>
              <a:rPr b="1" lang="es-MX" sz="3200" spc="-1" strike="noStrike">
                <a:solidFill>
                  <a:srgbClr val="009900"/>
                </a:solidFill>
                <a:latin typeface="Calibri"/>
              </a:rPr>
              <a:t>*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Sainte-Lagu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ë puro (1, 3, 5, 7, …)</a:t>
            </a:r>
            <a:br>
              <a:rPr sz="3200"/>
            </a:br>
            <a:r>
              <a:rPr b="1" lang="es-MX" sz="3200" spc="-1" strike="noStrike">
                <a:solidFill>
                  <a:srgbClr val="009900"/>
                </a:solidFill>
                <a:latin typeface="Calibri"/>
              </a:rPr>
              <a:t>*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Sainte-Lagu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ë modificado (1.4, 3, 5, 7, …)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0" name="Text Box 6"/>
          <p:cNvSpPr/>
          <p:nvPr/>
        </p:nvSpPr>
        <p:spPr>
          <a:xfrm>
            <a:off x="990720" y="4952880"/>
            <a:ext cx="57909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s-MX" sz="3200" spc="-1" strike="noStrike">
                <a:solidFill>
                  <a:srgbClr val="3333cc"/>
                </a:solidFill>
                <a:latin typeface="Calibri"/>
              </a:rPr>
              <a:t>*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Hare (denominador </a:t>
            </a:r>
            <a:r>
              <a:rPr b="0" i="1" lang="es-MX" sz="32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)</a:t>
            </a:r>
            <a:br>
              <a:rPr sz="3200"/>
            </a:br>
            <a:r>
              <a:rPr b="1" lang="es-MX" sz="3200" spc="-1" strike="noStrike">
                <a:solidFill>
                  <a:srgbClr val="3333cc"/>
                </a:solidFill>
                <a:latin typeface="Calibri"/>
              </a:rPr>
              <a:t>*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 Droop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denominador </a:t>
            </a:r>
            <a:r>
              <a:rPr b="0" i="1" lang="es-MX" sz="32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+1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)</a:t>
            </a:r>
            <a:br>
              <a:rPr sz="3200"/>
            </a:br>
            <a:r>
              <a:rPr b="1" lang="es-MX" sz="3200" spc="-1" strike="noStrike">
                <a:solidFill>
                  <a:srgbClr val="3333cc"/>
                </a:solidFill>
                <a:latin typeface="Calibri"/>
              </a:rPr>
              <a:t>*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Imperiali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(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denominador </a:t>
            </a:r>
            <a:r>
              <a:rPr b="0" i="1" lang="es-MX" sz="32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s-MX" sz="3200" spc="-1" strike="noStrike">
                <a:solidFill>
                  <a:srgbClr val="000000"/>
                </a:solidFill>
                <a:latin typeface="Calibri"/>
              </a:rPr>
              <a:t>+2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nodeType="clickEffect" fill="hold">
                      <p:stCondLst>
                        <p:cond delay="indefinite"/>
                      </p:stCondLst>
                      <p:childTnLst>
                        <p:par>
                          <p:cTn id="1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nodeType="clickEffect" fill="hold">
                      <p:stCondLst>
                        <p:cond delay="indefinite"/>
                      </p:stCondLst>
                      <p:childTnLst>
                        <p:par>
                          <p:cTn id="1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nodeType="clickEffect" fill="hold">
                      <p:stCondLst>
                        <p:cond delay="indefinite"/>
                      </p:stCondLst>
                      <p:childTnLst>
                        <p:par>
                          <p:cTn id="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2"/>
          <p:cNvSpPr/>
          <p:nvPr/>
        </p:nvSpPr>
        <p:spPr>
          <a:xfrm>
            <a:off x="1619280" y="152280"/>
            <a:ext cx="5905080" cy="577080"/>
          </a:xfrm>
          <a:prstGeom prst="rect">
            <a:avLst/>
          </a:prstGeom>
          <a:solidFill>
            <a:schemeClr val="folHlink"/>
          </a:solidFill>
          <a:ln w="0">
            <a:noFill/>
          </a:ln>
          <a:effectLst>
            <a:outerShdw algn="ctr" dir="2700000" dist="107423" rotWithShape="0">
              <a:schemeClr val="bg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0" lang="es-MX" sz="3200" spc="-1" strike="noStrike">
                <a:solidFill>
                  <a:srgbClr val="000000"/>
                </a:solidFill>
                <a:latin typeface="Arial"/>
              </a:rPr>
              <a:t>Los sistemas de divisor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102" name="Object 0"/>
          <p:cNvGraphicFramePr/>
          <p:nvPr/>
        </p:nvGraphicFramePr>
        <p:xfrm>
          <a:off x="228600" y="847800"/>
          <a:ext cx="8686440" cy="5857560"/>
        </p:xfrm>
        <a:graphic>
          <a:graphicData uri="http://schemas.openxmlformats.org/presentationml/2006/ole">
            <p:oleObj progId="Excel.Sheet.8" r:id="rId1" spid="">
              <p:embed/>
              <p:pic>
                <p:nvPicPr>
                  <p:cNvPr id="103" name="Object 0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28600" y="847800"/>
                    <a:ext cx="8686440" cy="5857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"/>
          <p:cNvPicPr/>
          <p:nvPr/>
        </p:nvPicPr>
        <p:blipFill>
          <a:blip r:embed="rId1"/>
          <a:stretch/>
        </p:blipFill>
        <p:spPr>
          <a:xfrm>
            <a:off x="1066680" y="380880"/>
            <a:ext cx="6933960" cy="612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27231</TotalTime>
  <Application>LibreOffice/7.3.7.2$Linux_X86_64 LibreOffice_project/30$Build-2</Application>
  <AppVersion>15.0000</AppVersion>
  <Words>2686</Words>
  <Paragraphs>407</Paragraphs>
  <Company>I.T.A.M.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2002-09-12T12:46:06Z</dcterms:created>
  <dc:creator>emagar</dc:creator>
  <dc:description/>
  <dc:language>en-US</dc:language>
  <cp:lastModifiedBy/>
  <dcterms:modified xsi:type="dcterms:W3CDTF">2026-01-28T08:10:39Z</dcterms:modified>
  <cp:revision>1004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i4>91</vt:i4>
  </property>
</Properties>
</file>